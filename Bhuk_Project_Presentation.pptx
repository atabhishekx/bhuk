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6"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2" d="100"/>
          <a:sy n="122" d="100"/>
        </p:scale>
        <p:origin x="11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37374C-AB92-4C11-BD9C-BE666C3B3E00}" type="datetimeFigureOut">
              <a:rPr lang="en-US" smtClean="0"/>
              <a:t>26-Oct-26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948BCA-F7AF-4448-91EA-0ADEF3F156CA}" type="slidenum">
              <a:rPr lang="en-US" smtClean="0"/>
              <a:t>‹#›</a:t>
            </a:fld>
            <a:endParaRPr lang="en-US"/>
          </a:p>
        </p:txBody>
      </p:sp>
    </p:spTree>
    <p:extLst>
      <p:ext uri="{BB962C8B-B14F-4D97-AF65-F5344CB8AC3E}">
        <p14:creationId xmlns:p14="http://schemas.microsoft.com/office/powerpoint/2010/main" val="2469255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faculty members.</a:t>
            </a:r>
          </a:p>
          <a:p>
            <a:r>
              <a:rPr lang="en-US" dirty="0"/>
              <a:t>Today, I am going to present our mini project, </a:t>
            </a:r>
            <a:r>
              <a:rPr lang="en-US" dirty="0" err="1"/>
              <a:t>Bhuk</a:t>
            </a:r>
            <a:r>
              <a:rPr lang="en-US" dirty="0"/>
              <a:t>, a Single-Chain Food Delivery System.</a:t>
            </a:r>
          </a:p>
          <a:p>
            <a:r>
              <a:rPr lang="en-US" dirty="0" err="1"/>
              <a:t>Bhuk</a:t>
            </a:r>
            <a:r>
              <a:rPr lang="en-US" dirty="0"/>
              <a:t> is a web-based application designed to simplify online food ordering and restaurant operations. It provides a common platform where customers can explore food items, add products to their cart, place orders and track order progress.</a:t>
            </a:r>
          </a:p>
          <a:p>
            <a:r>
              <a:rPr lang="en-US" dirty="0"/>
              <a:t>On the operational side, restaurant staff and administrators can manage menu items and monitor customer orders.</a:t>
            </a:r>
          </a:p>
          <a:p>
            <a:r>
              <a:rPr lang="en-US" dirty="0"/>
              <a:t>The main objective of </a:t>
            </a:r>
            <a:r>
              <a:rPr lang="en-US" dirty="0" err="1"/>
              <a:t>Bhuk</a:t>
            </a:r>
            <a:r>
              <a:rPr lang="en-US" dirty="0"/>
              <a:t> is to provide a convenient ordering experience while making restaurant operations more structured and manageable.</a:t>
            </a:r>
          </a:p>
          <a:p>
            <a:r>
              <a:rPr lang="en-US" dirty="0"/>
              <a:t>In this presentation, I will explain the problem, our proposed solution, system architecture, database design, implementation, testing and future scope.</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1</a:t>
            </a:fld>
            <a:endParaRPr lang="en-US"/>
          </a:p>
        </p:txBody>
      </p:sp>
    </p:spTree>
    <p:extLst>
      <p:ext uri="{BB962C8B-B14F-4D97-AF65-F5344CB8AC3E}">
        <p14:creationId xmlns:p14="http://schemas.microsoft.com/office/powerpoint/2010/main" val="11137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ordering involves several activities, such as browsing a menu, selecting items, calculating the bill, confirming an order, preparing the food and arranging delivery.</a:t>
            </a:r>
          </a:p>
          <a:p>
            <a:r>
              <a:rPr lang="en-US" dirty="0"/>
              <a:t>When these activities are handled through disconnected processes, it can become difficult to maintain accurate order information, track progress and coordinate restaurant operations.</a:t>
            </a:r>
          </a:p>
          <a:p>
            <a:r>
              <a:rPr lang="en-US" dirty="0"/>
              <a:t>Customers also need a simple interface to find food, understand prices and view their orders.</a:t>
            </a:r>
          </a:p>
          <a:p>
            <a:r>
              <a:rPr lang="en-US" dirty="0"/>
              <a:t>Our motivation was to bring these activities together in a single application.</a:t>
            </a:r>
          </a:p>
          <a:p>
            <a:r>
              <a:rPr lang="en-US" dirty="0" err="1"/>
              <a:t>Bhuk</a:t>
            </a:r>
            <a:r>
              <a:rPr lang="en-US" dirty="0"/>
              <a:t> addresses this need by connecting customer ordering with restaurant-side order and menu management.</a:t>
            </a:r>
          </a:p>
          <a:p>
            <a:r>
              <a:rPr lang="en-US" dirty="0"/>
              <a:t>The focus of our project is to demonstrate how software engineering principles can be used to organize a real-world food ordering workflow.</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2</a:t>
            </a:fld>
            <a:endParaRPr lang="en-US"/>
          </a:p>
        </p:txBody>
      </p:sp>
    </p:spTree>
    <p:extLst>
      <p:ext uri="{BB962C8B-B14F-4D97-AF65-F5344CB8AC3E}">
        <p14:creationId xmlns:p14="http://schemas.microsoft.com/office/powerpoint/2010/main" val="582017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solution is </a:t>
            </a:r>
            <a:r>
              <a:rPr lang="en-US" dirty="0" err="1"/>
              <a:t>Bhuk</a:t>
            </a:r>
            <a:r>
              <a:rPr lang="en-US" dirty="0"/>
              <a:t>, a web application with customer-facing and administrative functionality.</a:t>
            </a:r>
          </a:p>
          <a:p>
            <a:r>
              <a:rPr lang="en-US" dirty="0"/>
              <a:t>The customer module allows users to browse menu categories, search for food items, view prices, add products to the cart and proceed through the ordering workflow.</a:t>
            </a:r>
          </a:p>
          <a:p>
            <a:r>
              <a:rPr lang="en-US" dirty="0"/>
              <a:t>The order management module supports viewing orders and managing their status.</a:t>
            </a:r>
          </a:p>
          <a:p>
            <a:r>
              <a:rPr lang="en-US" dirty="0"/>
              <a:t>The menu management module allows authorized administrators to maintain categories, menu items and their availability.</a:t>
            </a:r>
          </a:p>
          <a:p>
            <a:r>
              <a:rPr lang="en-US" dirty="0"/>
              <a:t>The system also includes authentication and role-based access concepts so that users can access the functions appropriate to their roles.</a:t>
            </a:r>
          </a:p>
          <a:p>
            <a:r>
              <a:rPr lang="en-US" dirty="0"/>
              <a:t>Together, these modules form the foundation of the application.</a:t>
            </a:r>
          </a:p>
          <a:p>
            <a:r>
              <a:rPr lang="en-US" dirty="0"/>
              <a:t>Instead of treating each function as an isolated feature, the system connects them through backend business logic and database operations.</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3</a:t>
            </a:fld>
            <a:endParaRPr lang="en-US"/>
          </a:p>
        </p:txBody>
      </p:sp>
    </p:spTree>
    <p:extLst>
      <p:ext uri="{BB962C8B-B14F-4D97-AF65-F5344CB8AC3E}">
        <p14:creationId xmlns:p14="http://schemas.microsoft.com/office/powerpoint/2010/main" val="1532444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the customer-facing interface of </a:t>
            </a:r>
            <a:r>
              <a:rPr lang="en-US" dirty="0" err="1"/>
              <a:t>Bhuk</a:t>
            </a:r>
            <a:r>
              <a:rPr lang="en-US" dirty="0"/>
              <a:t>.</a:t>
            </a:r>
          </a:p>
          <a:p>
            <a:r>
              <a:rPr lang="en-US" dirty="0"/>
              <a:t>The menu page displays the available food items through individual cards. Each card can present the item name, description, image, price and an option to add the item to the cart.</a:t>
            </a:r>
          </a:p>
          <a:p>
            <a:r>
              <a:rPr lang="en-US" dirty="0"/>
              <a:t>The category navigation helps customers explore different types of food, while the search field makes it easier to find specific items.</a:t>
            </a:r>
          </a:p>
          <a:p>
            <a:r>
              <a:rPr lang="en-US" dirty="0"/>
              <a:t>The login page provides the interface for users to sign in to their accounts.</a:t>
            </a:r>
          </a:p>
          <a:p>
            <a:r>
              <a:rPr lang="en-US" dirty="0"/>
              <a:t>We have used a consistent visual design with a warm cream background, orange accents, rounded cards and clear navigation. These choices help establish a recognizable identity for the application.</a:t>
            </a:r>
          </a:p>
          <a:p>
            <a:r>
              <a:rPr lang="en-US" dirty="0"/>
              <a:t>The objective is to make the interface visually appealing while keeping important actions easy to locate.</a:t>
            </a:r>
          </a:p>
          <a:p>
            <a:r>
              <a:rPr lang="en-US" dirty="0"/>
              <a:t>The frontend is responsible for presenting information and collecting user input, while the backend is responsible for validating and processing important operations.</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4</a:t>
            </a:fld>
            <a:endParaRPr lang="en-US"/>
          </a:p>
        </p:txBody>
      </p:sp>
    </p:spTree>
    <p:extLst>
      <p:ext uri="{BB962C8B-B14F-4D97-AF65-F5344CB8AC3E}">
        <p14:creationId xmlns:p14="http://schemas.microsoft.com/office/powerpoint/2010/main" val="738513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Bhuk</a:t>
            </a:r>
            <a:r>
              <a:rPr lang="en-US" dirty="0"/>
              <a:t> uses a layered full-stack architecture.</a:t>
            </a:r>
          </a:p>
          <a:p>
            <a:r>
              <a:rPr lang="en-US" dirty="0"/>
              <a:t>The frontend is built using React, TypeScript and Vite. React helps us build reusable interface components, TypeScript provides static type checking, and Vite supports the frontend development and build process.</a:t>
            </a:r>
          </a:p>
          <a:p>
            <a:r>
              <a:rPr lang="en-US" dirty="0"/>
              <a:t>The frontend communicates with the backend through REST APIs.</a:t>
            </a:r>
          </a:p>
          <a:p>
            <a:r>
              <a:rPr lang="en-US" dirty="0"/>
              <a:t>The backend uses Java and Spring Boot to implement application logic, process requests, validate data and manage order operations.</a:t>
            </a:r>
          </a:p>
          <a:p>
            <a:r>
              <a:rPr lang="en-US" dirty="0"/>
              <a:t>Spring Data JPA supports interaction with the relational database, while MySQL stores persistent information such as users, menu items and orders. Flyway is used to manage database schema migrations.</a:t>
            </a:r>
          </a:p>
          <a:p>
            <a:r>
              <a:rPr lang="en-US" dirty="0"/>
              <a:t>JWT-based authentication supports authenticated API requests, with authorization controls needed for protected operations.</a:t>
            </a:r>
          </a:p>
          <a:p>
            <a:r>
              <a:rPr lang="en-US" dirty="0"/>
              <a:t>The main advantage of this architecture is separation of responsibilities. The frontend manages presentation, the backend enforces business rules, and the database stores persistent data.</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5</a:t>
            </a:fld>
            <a:endParaRPr lang="en-US"/>
          </a:p>
        </p:txBody>
      </p:sp>
    </p:spTree>
    <p:extLst>
      <p:ext uri="{BB962C8B-B14F-4D97-AF65-F5344CB8AC3E}">
        <p14:creationId xmlns:p14="http://schemas.microsoft.com/office/powerpoint/2010/main" val="820678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an order moves through the application.</a:t>
            </a:r>
          </a:p>
          <a:p>
            <a:r>
              <a:rPr lang="en-US" dirty="0"/>
              <a:t>First, the customer browses the menu and selects food items. The selected items are added to the cart, where quantities can be managed and pricing can be calculated.</a:t>
            </a:r>
          </a:p>
          <a:p>
            <a:r>
              <a:rPr lang="en-US" dirty="0"/>
              <a:t>When the customer proceeds to checkout, the backend validates the request and checks the relevant item information and availability.</a:t>
            </a:r>
          </a:p>
          <a:p>
            <a:r>
              <a:rPr lang="en-US" dirty="0"/>
              <a:t>The backend recalculates the amount using trusted menu prices rather than accepting a total supplied by the browser. This is important because client-side values can be modified.</a:t>
            </a:r>
          </a:p>
          <a:p>
            <a:r>
              <a:rPr lang="en-US" dirty="0"/>
              <a:t>If the request is valid, the system creates the order and stores its associated order items in the database.</a:t>
            </a:r>
          </a:p>
          <a:p>
            <a:r>
              <a:rPr lang="en-US" dirty="0"/>
              <a:t>The order can then progress through the supported status lifecycle, such as placed, accepted, preparing, ready for pickup, out for delivery and delivered.</a:t>
            </a:r>
          </a:p>
          <a:p>
            <a:r>
              <a:rPr lang="en-US" dirty="0"/>
              <a:t>The system may also record cancellation or rejection when those transitions are supported by the business rules.</a:t>
            </a:r>
          </a:p>
          <a:p>
            <a:r>
              <a:rPr lang="en-US" dirty="0"/>
              <a:t>This workflow connects the customer interface, backend logic and persistent storage into one process.</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6</a:t>
            </a:fld>
            <a:endParaRPr lang="en-US"/>
          </a:p>
        </p:txBody>
      </p:sp>
    </p:spTree>
    <p:extLst>
      <p:ext uri="{BB962C8B-B14F-4D97-AF65-F5344CB8AC3E}">
        <p14:creationId xmlns:p14="http://schemas.microsoft.com/office/powerpoint/2010/main" val="1532758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the administrative side of </a:t>
            </a:r>
            <a:r>
              <a:rPr lang="en-US" dirty="0" err="1"/>
              <a:t>Bhuk</a:t>
            </a:r>
            <a:r>
              <a:rPr lang="en-US" dirty="0"/>
              <a:t>.</a:t>
            </a:r>
          </a:p>
          <a:p>
            <a:r>
              <a:rPr lang="en-US" dirty="0"/>
              <a:t>The admin dashboard provides an overview of order activity and offers quick access to important management functions.</a:t>
            </a:r>
          </a:p>
          <a:p>
            <a:r>
              <a:rPr lang="en-US" dirty="0"/>
              <a:t>The order management interface allows administrators to search for orders, filter them by status and open individual order details.</a:t>
            </a:r>
          </a:p>
          <a:p>
            <a:r>
              <a:rPr lang="en-US" dirty="0"/>
              <a:t>The order detail view provides information such as the order identifier, customer information, item quantities, pricing and order status history.</a:t>
            </a:r>
          </a:p>
          <a:p>
            <a:r>
              <a:rPr lang="en-US" dirty="0"/>
              <a:t>The menu management interface allows authorized users to manage menu categories and items, including availability.</a:t>
            </a:r>
          </a:p>
          <a:p>
            <a:r>
              <a:rPr lang="en-US" dirty="0"/>
              <a:t>These functions help organize restaurant operations and make order information easier to access.</a:t>
            </a:r>
          </a:p>
          <a:p>
            <a:r>
              <a:rPr lang="en-US" dirty="0"/>
              <a:t>Administrative operations should be protected by backend authorization. Hiding a button in the frontend alone is not sufficient to secure an operation.</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7</a:t>
            </a:fld>
            <a:endParaRPr lang="en-US"/>
          </a:p>
        </p:txBody>
      </p:sp>
    </p:spTree>
    <p:extLst>
      <p:ext uri="{BB962C8B-B14F-4D97-AF65-F5344CB8AC3E}">
        <p14:creationId xmlns:p14="http://schemas.microsoft.com/office/powerpoint/2010/main" val="1295903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Entity Relationship diagram represents the main data entities used in the </a:t>
            </a:r>
            <a:r>
              <a:rPr lang="en-US" dirty="0" err="1"/>
              <a:t>Bhuk</a:t>
            </a:r>
            <a:r>
              <a:rPr lang="en-US" dirty="0"/>
              <a:t> system and the relationships between them.</a:t>
            </a:r>
          </a:p>
          <a:p>
            <a:r>
              <a:rPr lang="en-US" dirty="0"/>
              <a:t>The Users entity represents people who interact with the application. Addresses are associated with users, while carts and cart items represent the products a customer is preparing to order.</a:t>
            </a:r>
          </a:p>
          <a:p>
            <a:r>
              <a:rPr lang="en-US" dirty="0"/>
              <a:t>Categories organize menu items. Orders represent confirmed ordering records, while order items store the individual food items and their purchase details.</a:t>
            </a:r>
          </a:p>
          <a:p>
            <a:r>
              <a:rPr lang="en-US" dirty="0"/>
              <a:t>Payments and delivery assignments represent the payment and delivery parts of the order workflow. Outlets represent restaurant locations where applicable.</a:t>
            </a:r>
          </a:p>
          <a:p>
            <a:r>
              <a:rPr lang="en-US" dirty="0"/>
              <a:t>Primary keys uniquely identify records, while foreign keys connect related records.</a:t>
            </a:r>
          </a:p>
          <a:p>
            <a:r>
              <a:rPr lang="en-US" dirty="0"/>
              <a:t>For example, an order can be associated with a customer, and its order items can reference the corresponding order. This structure helps maintain consistency and avoids storing all information in one large table.</a:t>
            </a:r>
          </a:p>
          <a:p>
            <a:r>
              <a:rPr lang="en-US" dirty="0"/>
              <a:t>The diagram is a conceptual view, so its relationships and cardinalities must be verified against the actual database migrations.</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8</a:t>
            </a:fld>
            <a:endParaRPr lang="en-US"/>
          </a:p>
        </p:txBody>
      </p:sp>
    </p:spTree>
    <p:extLst>
      <p:ext uri="{BB962C8B-B14F-4D97-AF65-F5344CB8AC3E}">
        <p14:creationId xmlns:p14="http://schemas.microsoft.com/office/powerpoint/2010/main" val="1490518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diagram explains how the application is divided into classes and how they interact.</a:t>
            </a:r>
          </a:p>
          <a:p>
            <a:r>
              <a:rPr lang="en-US" dirty="0"/>
              <a:t>Starting from the top left, </a:t>
            </a:r>
            <a:r>
              <a:rPr lang="en-US" dirty="0" err="1"/>
              <a:t>OrderController</a:t>
            </a:r>
            <a:r>
              <a:rPr lang="en-US" dirty="0"/>
              <a:t> handles incoming requests, such as creating or retrieving orders.</a:t>
            </a:r>
          </a:p>
          <a:p>
            <a:r>
              <a:rPr lang="en-US" dirty="0"/>
              <a:t>It calls </a:t>
            </a:r>
            <a:r>
              <a:rPr lang="en-US" dirty="0" err="1"/>
              <a:t>OrderService</a:t>
            </a:r>
            <a:r>
              <a:rPr lang="en-US" dirty="0"/>
              <a:t>, which contains the main business logic. The service coordinates order creation and permitted status transitions.</a:t>
            </a:r>
          </a:p>
          <a:p>
            <a:r>
              <a:rPr lang="en-US" dirty="0" err="1"/>
              <a:t>OrderService</a:t>
            </a:r>
            <a:r>
              <a:rPr lang="en-US" dirty="0"/>
              <a:t> uses </a:t>
            </a:r>
            <a:r>
              <a:rPr lang="en-US" dirty="0" err="1"/>
              <a:t>OrderRepository</a:t>
            </a:r>
            <a:r>
              <a:rPr lang="en-US" dirty="0"/>
              <a:t> to save and retrieve order information.</a:t>
            </a:r>
          </a:p>
          <a:p>
            <a:r>
              <a:rPr lang="en-US" dirty="0" err="1"/>
              <a:t>CartService</a:t>
            </a:r>
            <a:r>
              <a:rPr lang="en-US" dirty="0"/>
              <a:t> supports cart operations, including adding items and calculating pricing.</a:t>
            </a:r>
          </a:p>
          <a:p>
            <a:r>
              <a:rPr lang="en-US" dirty="0"/>
              <a:t>The Order class represents the complete order and stores attributes such as its ID, status and total.</a:t>
            </a:r>
          </a:p>
          <a:p>
            <a:r>
              <a:rPr lang="en-US" dirty="0"/>
              <a:t>An Order contains </a:t>
            </a:r>
            <a:r>
              <a:rPr lang="en-US" dirty="0" err="1"/>
              <a:t>OrderItem</a:t>
            </a:r>
            <a:r>
              <a:rPr lang="en-US" dirty="0"/>
              <a:t> objects, each representing an item purchased, its quantity and its unit price.</a:t>
            </a:r>
          </a:p>
          <a:p>
            <a:r>
              <a:rPr lang="en-US" dirty="0" err="1"/>
              <a:t>OrderStatusEvent</a:t>
            </a:r>
            <a:r>
              <a:rPr lang="en-US" dirty="0"/>
              <a:t> represents status-history records, allowing the system to record transitions and their timestamps.</a:t>
            </a:r>
          </a:p>
          <a:p>
            <a:r>
              <a:rPr lang="en-US" dirty="0"/>
              <a:t>The arrows indicate dependencies and relationships. The filled diamond represents composition, while the unfilled diamond represents aggregation in this diagram.</a:t>
            </a:r>
          </a:p>
          <a:p>
            <a:r>
              <a:rPr lang="en-US" dirty="0"/>
              <a:t>Overall, the class diagram illustrates separation of responsibilities between request handling, business logic, persistence and order data.</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9</a:t>
            </a:fld>
            <a:endParaRPr lang="en-US"/>
          </a:p>
        </p:txBody>
      </p:sp>
    </p:spTree>
    <p:extLst>
      <p:ext uri="{BB962C8B-B14F-4D97-AF65-F5344CB8AC3E}">
        <p14:creationId xmlns:p14="http://schemas.microsoft.com/office/powerpoint/2010/main" val="3817632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t>
            </a:r>
            <a:r>
              <a:rPr lang="en-US" dirty="0" err="1"/>
              <a:t>Bhuk</a:t>
            </a:r>
            <a:r>
              <a:rPr lang="en-US" dirty="0"/>
              <a:t> demonstrates the design and development of a single-chain food delivery application that connects customer ordering with restaurant-side management.</a:t>
            </a:r>
          </a:p>
          <a:p>
            <a:r>
              <a:rPr lang="en-US" dirty="0"/>
              <a:t>The project brings together menu browsing, cart operations, order processing, order monitoring and menu administration through a layered full-stack architecture.</a:t>
            </a:r>
          </a:p>
          <a:p>
            <a:r>
              <a:rPr lang="en-US" dirty="0"/>
              <a:t>FA1 establishes the requirements, design and initial implementation, while FA2 focuses on core functionality, integration, validation and testing.</a:t>
            </a:r>
          </a:p>
          <a:p>
            <a:r>
              <a:rPr lang="en-US" dirty="0"/>
              <a:t>The project has helped us understand practical software engineering concepts, including API design, relational database modelling, object-oriented design, authentication and testing.</a:t>
            </a:r>
          </a:p>
          <a:p>
            <a:r>
              <a:rPr lang="en-US" dirty="0"/>
              <a:t>Future improvements include completing payment gateway integration, strengthening end-to-end testing, improving delivery tracking and notifications, and enhancing deployment monitoring and operational reliability.</a:t>
            </a:r>
          </a:p>
          <a:p>
            <a:r>
              <a:rPr lang="en-US" dirty="0"/>
              <a:t>With these improvements, </a:t>
            </a:r>
            <a:r>
              <a:rPr lang="en-US" dirty="0" err="1"/>
              <a:t>Bhuk</a:t>
            </a:r>
            <a:r>
              <a:rPr lang="en-US" dirty="0"/>
              <a:t> can evolve into a more complete and production-ready food ordering platform.</a:t>
            </a:r>
          </a:p>
          <a:p>
            <a:r>
              <a:rPr lang="en-US" dirty="0"/>
              <a:t>Thank you for your time. I am happy to answer any questions.</a:t>
            </a:r>
          </a:p>
          <a:p>
            <a:endParaRPr lang="en-US" dirty="0"/>
          </a:p>
        </p:txBody>
      </p:sp>
      <p:sp>
        <p:nvSpPr>
          <p:cNvPr id="4" name="Slide Number Placeholder 3"/>
          <p:cNvSpPr>
            <a:spLocks noGrp="1"/>
          </p:cNvSpPr>
          <p:nvPr>
            <p:ph type="sldNum" sz="quarter" idx="5"/>
          </p:nvPr>
        </p:nvSpPr>
        <p:spPr/>
        <p:txBody>
          <a:bodyPr/>
          <a:lstStyle/>
          <a:p>
            <a:fld id="{80948BCA-F7AF-4448-91EA-0ADEF3F156CA}" type="slidenum">
              <a:rPr lang="en-US" smtClean="0"/>
              <a:t>10</a:t>
            </a:fld>
            <a:endParaRPr lang="en-US"/>
          </a:p>
        </p:txBody>
      </p:sp>
    </p:spTree>
    <p:extLst>
      <p:ext uri="{BB962C8B-B14F-4D97-AF65-F5344CB8AC3E}">
        <p14:creationId xmlns:p14="http://schemas.microsoft.com/office/powerpoint/2010/main" val="3163810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40080"/>
            <a:ext cx="4572000" cy="548640"/>
          </a:xfrm>
          <a:prstGeom prst="rect">
            <a:avLst/>
          </a:prstGeom>
          <a:noFill/>
        </p:spPr>
        <p:txBody>
          <a:bodyPr wrap="square">
            <a:spAutoFit/>
          </a:bodyPr>
          <a:lstStyle/>
          <a:p>
            <a:pPr algn="l">
              <a:defRPr sz="3400" b="1">
                <a:solidFill>
                  <a:srgbClr val="EB5A1D"/>
                </a:solidFill>
                <a:latin typeface="Aptos"/>
              </a:defRPr>
            </a:pPr>
            <a:r>
              <a:t>BHUK</a:t>
            </a:r>
          </a:p>
        </p:txBody>
      </p:sp>
      <p:sp>
        <p:nvSpPr>
          <p:cNvPr id="4" name="TextBox 3"/>
          <p:cNvSpPr txBox="1"/>
          <p:nvPr/>
        </p:nvSpPr>
        <p:spPr>
          <a:xfrm>
            <a:off x="640080" y="1371600"/>
            <a:ext cx="5760720" cy="914400"/>
          </a:xfrm>
          <a:prstGeom prst="rect">
            <a:avLst/>
          </a:prstGeom>
          <a:noFill/>
        </p:spPr>
        <p:txBody>
          <a:bodyPr wrap="square">
            <a:spAutoFit/>
          </a:bodyPr>
          <a:lstStyle/>
          <a:p>
            <a:pPr algn="l">
              <a:defRPr sz="2800" b="1">
                <a:solidFill>
                  <a:srgbClr val="292522"/>
                </a:solidFill>
                <a:latin typeface="Aptos"/>
              </a:defRPr>
            </a:pPr>
            <a:r>
              <a:t>A single-chain food delivery system</a:t>
            </a:r>
          </a:p>
        </p:txBody>
      </p:sp>
      <p:sp>
        <p:nvSpPr>
          <p:cNvPr id="5" name="TextBox 4"/>
          <p:cNvSpPr txBox="1"/>
          <p:nvPr/>
        </p:nvSpPr>
        <p:spPr>
          <a:xfrm>
            <a:off x="640080" y="2468880"/>
            <a:ext cx="5212080" cy="914400"/>
          </a:xfrm>
          <a:prstGeom prst="rect">
            <a:avLst/>
          </a:prstGeom>
          <a:noFill/>
        </p:spPr>
        <p:txBody>
          <a:bodyPr wrap="square">
            <a:spAutoFit/>
          </a:bodyPr>
          <a:lstStyle/>
          <a:p>
            <a:pPr algn="l">
              <a:defRPr sz="1800" b="0">
                <a:solidFill>
                  <a:srgbClr val="706B65"/>
                </a:solidFill>
                <a:latin typeface="Aptos"/>
              </a:defRPr>
            </a:pPr>
            <a:r>
              <a:t>From menu discovery to order fulfilment — one connected workflow.</a:t>
            </a:r>
          </a:p>
        </p:txBody>
      </p:sp>
      <p:sp>
        <p:nvSpPr>
          <p:cNvPr id="6" name="TextBox 5"/>
          <p:cNvSpPr txBox="1"/>
          <p:nvPr/>
        </p:nvSpPr>
        <p:spPr>
          <a:xfrm>
            <a:off x="548640" y="4228124"/>
            <a:ext cx="4836160" cy="1323439"/>
          </a:xfrm>
          <a:prstGeom prst="rect">
            <a:avLst/>
          </a:prstGeom>
          <a:noFill/>
        </p:spPr>
        <p:txBody>
          <a:bodyPr wrap="square">
            <a:spAutoFit/>
          </a:bodyPr>
          <a:lstStyle/>
          <a:p>
            <a:pPr algn="l">
              <a:defRPr sz="1400" b="1">
                <a:solidFill>
                  <a:srgbClr val="292522"/>
                </a:solidFill>
                <a:latin typeface="Aptos"/>
              </a:defRPr>
            </a:pPr>
            <a:r>
              <a:rPr sz="1600" dirty="0">
                <a:solidFill>
                  <a:srgbClr val="FF0000"/>
                </a:solidFill>
              </a:rPr>
              <a:t>Mini Project Presentation  |</a:t>
            </a:r>
            <a:r>
              <a:rPr lang="en-US" sz="1600" dirty="0">
                <a:solidFill>
                  <a:srgbClr val="FF0000"/>
                </a:solidFill>
              </a:rPr>
              <a:t> G13 </a:t>
            </a:r>
          </a:p>
          <a:p>
            <a:pPr algn="l">
              <a:defRPr sz="1400" b="1">
                <a:solidFill>
                  <a:srgbClr val="292522"/>
                </a:solidFill>
                <a:latin typeface="Aptos"/>
              </a:defRPr>
            </a:pPr>
            <a:r>
              <a:rPr lang="en-US" sz="1600" dirty="0"/>
              <a:t>51 – Tanuja </a:t>
            </a:r>
            <a:r>
              <a:rPr lang="en-US" sz="1600" dirty="0" err="1"/>
              <a:t>Vishe</a:t>
            </a:r>
            <a:endParaRPr lang="en-US" sz="1600" dirty="0"/>
          </a:p>
          <a:p>
            <a:pPr algn="l">
              <a:defRPr sz="1400" b="1">
                <a:solidFill>
                  <a:srgbClr val="292522"/>
                </a:solidFill>
                <a:latin typeface="Aptos"/>
              </a:defRPr>
            </a:pPr>
            <a:r>
              <a:rPr lang="en-US" sz="1600" dirty="0"/>
              <a:t>52 – Abhishek Vishwakarma</a:t>
            </a:r>
          </a:p>
          <a:p>
            <a:pPr algn="l">
              <a:defRPr sz="1400" b="1">
                <a:solidFill>
                  <a:srgbClr val="292522"/>
                </a:solidFill>
                <a:latin typeface="Aptos"/>
              </a:defRPr>
            </a:pPr>
            <a:r>
              <a:rPr lang="en-US" sz="1600" dirty="0"/>
              <a:t>53 – Pranav Vishwakarma</a:t>
            </a:r>
          </a:p>
          <a:p>
            <a:pPr algn="l">
              <a:defRPr sz="1400" b="1">
                <a:solidFill>
                  <a:srgbClr val="292522"/>
                </a:solidFill>
                <a:latin typeface="Aptos"/>
              </a:defRPr>
            </a:pPr>
            <a:r>
              <a:rPr lang="en-US" sz="1600" dirty="0"/>
              <a:t>54 – </a:t>
            </a:r>
            <a:r>
              <a:rPr lang="en-US" sz="1600" dirty="0" err="1"/>
              <a:t>Sanchita</a:t>
            </a:r>
            <a:r>
              <a:rPr lang="en-US" sz="1600" dirty="0"/>
              <a:t> </a:t>
            </a:r>
            <a:r>
              <a:rPr lang="en-US" sz="1600" dirty="0" err="1"/>
              <a:t>Warkad</a:t>
            </a:r>
            <a:endParaRPr lang="en-US" sz="1600" dirty="0"/>
          </a:p>
        </p:txBody>
      </p:sp>
      <p:pic>
        <p:nvPicPr>
          <p:cNvPr id="10" name="Picture 9">
            <a:extLst>
              <a:ext uri="{FF2B5EF4-FFF2-40B4-BE49-F238E27FC236}">
                <a16:creationId xmlns:a16="http://schemas.microsoft.com/office/drawing/2014/main" id="{375B64ED-B6CE-C5D1-78FE-E1AA52947243}"/>
              </a:ext>
            </a:extLst>
          </p:cNvPr>
          <p:cNvPicPr>
            <a:picLocks noChangeAspect="1"/>
          </p:cNvPicPr>
          <p:nvPr/>
        </p:nvPicPr>
        <p:blipFill>
          <a:blip r:embed="rId3"/>
          <a:stretch>
            <a:fillRect/>
          </a:stretch>
        </p:blipFill>
        <p:spPr>
          <a:xfrm>
            <a:off x="6033324" y="787585"/>
            <a:ext cx="5048368" cy="50483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47"/>
    </mc:Choice>
    <mc:Fallback>
      <p:transition spd="slow" advTm="254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01 • CONTEXT</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Problem and motivation</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4846320" cy="731520"/>
          </a:xfrm>
          <a:prstGeom prst="rect">
            <a:avLst/>
          </a:prstGeom>
          <a:noFill/>
        </p:spPr>
        <p:txBody>
          <a:bodyPr wrap="square">
            <a:spAutoFit/>
          </a:bodyPr>
          <a:lstStyle/>
          <a:p>
            <a:pPr algn="l">
              <a:defRPr sz="2200" b="1">
                <a:solidFill>
                  <a:srgbClr val="292522"/>
                </a:solidFill>
                <a:latin typeface="Aptos"/>
              </a:defRPr>
            </a:pPr>
            <a:r>
              <a:t>Disconnected ordering and fulfilment creates friction.</a:t>
            </a:r>
          </a:p>
        </p:txBody>
      </p:sp>
      <p:sp>
        <p:nvSpPr>
          <p:cNvPr id="7" name="TextBox 6"/>
          <p:cNvSpPr txBox="1"/>
          <p:nvPr/>
        </p:nvSpPr>
        <p:spPr>
          <a:xfrm>
            <a:off x="822960" y="2560320"/>
            <a:ext cx="5029200" cy="2468880"/>
          </a:xfrm>
          <a:prstGeom prst="rect">
            <a:avLst/>
          </a:prstGeom>
          <a:noFill/>
        </p:spPr>
        <p:txBody>
          <a:bodyPr wrap="square">
            <a:spAutoFit/>
          </a:bodyPr>
          <a:lstStyle/>
          <a:p>
            <a:pPr algn="l">
              <a:defRPr sz="1700" b="0">
                <a:solidFill>
                  <a:srgbClr val="292522"/>
                </a:solidFill>
                <a:latin typeface="Aptos"/>
              </a:defRPr>
            </a:pPr>
            <a:r>
              <a:t>• Customers need a clear menu and predictable checkout.</a:t>
            </a:r>
            <a:br/>
            <a:r>
              <a:t>• Restaurant teams need a shared order queue and state history.</a:t>
            </a:r>
            <a:br/>
            <a:r>
              <a:t>• Delivery assignments require accountable status updates.</a:t>
            </a:r>
            <a:br/>
            <a:r>
              <a:t>• Admins need chain-wide visibility over orders and menu data.</a:t>
            </a:r>
          </a:p>
        </p:txBody>
      </p:sp>
      <p:pic>
        <p:nvPicPr>
          <p:cNvPr id="8" name="Picture 7" descr="Screenshot_04_Order_Management.png"/>
          <p:cNvPicPr>
            <a:picLocks noChangeAspect="1"/>
          </p:cNvPicPr>
          <p:nvPr/>
        </p:nvPicPr>
        <p:blipFill>
          <a:blip r:embed="rId3"/>
          <a:stretch>
            <a:fillRect/>
          </a:stretch>
        </p:blipFill>
        <p:spPr>
          <a:xfrm>
            <a:off x="6126480" y="1691640"/>
            <a:ext cx="5394960" cy="3566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02 • BHUK</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Proposed solution</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5212080" cy="548640"/>
          </a:xfrm>
          <a:prstGeom prst="rect">
            <a:avLst/>
          </a:prstGeom>
          <a:noFill/>
        </p:spPr>
        <p:txBody>
          <a:bodyPr wrap="square">
            <a:spAutoFit/>
          </a:bodyPr>
          <a:lstStyle/>
          <a:p>
            <a:pPr algn="l">
              <a:defRPr sz="2200" b="1">
                <a:solidFill>
                  <a:srgbClr val="292522"/>
                </a:solidFill>
                <a:latin typeface="Aptos"/>
              </a:defRPr>
            </a:pPr>
            <a:r>
              <a:t>A role-based workflow for a single restaurant chain.</a:t>
            </a:r>
          </a:p>
        </p:txBody>
      </p:sp>
      <p:sp>
        <p:nvSpPr>
          <p:cNvPr id="7" name="TextBox 6"/>
          <p:cNvSpPr txBox="1"/>
          <p:nvPr/>
        </p:nvSpPr>
        <p:spPr>
          <a:xfrm>
            <a:off x="822960" y="2377440"/>
            <a:ext cx="5029200" cy="3474720"/>
          </a:xfrm>
          <a:prstGeom prst="rect">
            <a:avLst/>
          </a:prstGeom>
          <a:noFill/>
        </p:spPr>
        <p:txBody>
          <a:bodyPr wrap="square">
            <a:spAutoFit/>
          </a:bodyPr>
          <a:lstStyle/>
          <a:p>
            <a:pPr algn="l">
              <a:defRPr sz="1700" b="0">
                <a:solidFill>
                  <a:srgbClr val="292522"/>
                </a:solidFill>
                <a:latin typeface="Aptos"/>
              </a:defRPr>
            </a:pPr>
            <a:r>
              <a:t>Customer</a:t>
            </a:r>
            <a:br/>
            <a:r>
              <a:t>Browse → Cart → Checkout → Track</a:t>
            </a:r>
            <a:br/>
            <a:br/>
            <a:r>
              <a:t>Restaurant</a:t>
            </a:r>
            <a:br/>
            <a:r>
              <a:t>Review → Accept / Reject → Prepare → Ready</a:t>
            </a:r>
            <a:br/>
            <a:br/>
            <a:r>
              <a:t>Delivery</a:t>
            </a:r>
            <a:br/>
            <a:r>
              <a:t>Assign → Pickup → Deliver</a:t>
            </a:r>
            <a:br/>
            <a:br/>
            <a:r>
              <a:t>Administrator</a:t>
            </a:r>
            <a:br/>
            <a:r>
              <a:t>Monitor orders → Manage menu → Review operations</a:t>
            </a:r>
          </a:p>
        </p:txBody>
      </p:sp>
      <p:pic>
        <p:nvPicPr>
          <p:cNvPr id="8" name="Picture 7" descr="Screenshot_06_Menu_Management.png"/>
          <p:cNvPicPr>
            <a:picLocks noChangeAspect="1"/>
          </p:cNvPicPr>
          <p:nvPr/>
        </p:nvPicPr>
        <p:blipFill>
          <a:blip r:embed="rId3"/>
          <a:stretch>
            <a:fillRect/>
          </a:stretch>
        </p:blipFill>
        <p:spPr>
          <a:xfrm>
            <a:off x="6217920" y="1645920"/>
            <a:ext cx="5212080" cy="40233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03 • UI</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Customer experience</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creenshot_01_Customer_Menu.png"/>
          <p:cNvPicPr>
            <a:picLocks noChangeAspect="1"/>
          </p:cNvPicPr>
          <p:nvPr/>
        </p:nvPicPr>
        <p:blipFill>
          <a:blip r:embed="rId3"/>
          <a:stretch>
            <a:fillRect/>
          </a:stretch>
        </p:blipFill>
        <p:spPr>
          <a:xfrm>
            <a:off x="640080" y="1547743"/>
            <a:ext cx="5637541" cy="3885509"/>
          </a:xfrm>
          <a:prstGeom prst="rect">
            <a:avLst/>
          </a:prstGeom>
        </p:spPr>
      </p:pic>
      <p:pic>
        <p:nvPicPr>
          <p:cNvPr id="7" name="Picture 6" descr="Screenshot_02_Customer_Login.png"/>
          <p:cNvPicPr>
            <a:picLocks noChangeAspect="1"/>
          </p:cNvPicPr>
          <p:nvPr/>
        </p:nvPicPr>
        <p:blipFill>
          <a:blip r:embed="rId4"/>
          <a:stretch>
            <a:fillRect/>
          </a:stretch>
        </p:blipFill>
        <p:spPr>
          <a:xfrm>
            <a:off x="6549292" y="1695935"/>
            <a:ext cx="4972147" cy="3737317"/>
          </a:xfrm>
          <a:prstGeom prst="rect">
            <a:avLst/>
          </a:prstGeom>
        </p:spPr>
      </p:pic>
      <p:sp>
        <p:nvSpPr>
          <p:cNvPr id="8" name="TextBox 7"/>
          <p:cNvSpPr txBox="1"/>
          <p:nvPr/>
        </p:nvSpPr>
        <p:spPr>
          <a:xfrm>
            <a:off x="731520" y="5570413"/>
            <a:ext cx="6583680" cy="320040"/>
          </a:xfrm>
          <a:prstGeom prst="rect">
            <a:avLst/>
          </a:prstGeom>
          <a:noFill/>
        </p:spPr>
        <p:txBody>
          <a:bodyPr wrap="square">
            <a:spAutoFit/>
          </a:bodyPr>
          <a:lstStyle/>
          <a:p>
            <a:pPr algn="l">
              <a:defRPr sz="1300" b="1">
                <a:solidFill>
                  <a:srgbClr val="292522"/>
                </a:solidFill>
                <a:latin typeface="Aptos"/>
              </a:defRPr>
            </a:pPr>
            <a:r>
              <a:t>Menu discovery, dish cards, search and cart actions</a:t>
            </a:r>
          </a:p>
        </p:txBody>
      </p:sp>
      <p:sp>
        <p:nvSpPr>
          <p:cNvPr id="9" name="TextBox 8"/>
          <p:cNvSpPr txBox="1"/>
          <p:nvPr/>
        </p:nvSpPr>
        <p:spPr>
          <a:xfrm>
            <a:off x="7589520" y="5570413"/>
            <a:ext cx="3840480" cy="320040"/>
          </a:xfrm>
          <a:prstGeom prst="rect">
            <a:avLst/>
          </a:prstGeom>
          <a:noFill/>
        </p:spPr>
        <p:txBody>
          <a:bodyPr wrap="square">
            <a:spAutoFit/>
          </a:bodyPr>
          <a:lstStyle/>
          <a:p>
            <a:pPr algn="l">
              <a:defRPr sz="1300" b="1">
                <a:solidFill>
                  <a:srgbClr val="292522"/>
                </a:solidFill>
                <a:latin typeface="Aptos"/>
              </a:defRPr>
            </a:pPr>
            <a:r>
              <a:t>Branded authentication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04 • DESIGN</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System architecture</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Diagram_01_System_Architecture.png"/>
          <p:cNvPicPr>
            <a:picLocks noChangeAspect="1"/>
          </p:cNvPicPr>
          <p:nvPr/>
        </p:nvPicPr>
        <p:blipFill>
          <a:blip r:embed="rId3"/>
          <a:stretch>
            <a:fillRect/>
          </a:stretch>
        </p:blipFill>
        <p:spPr>
          <a:xfrm>
            <a:off x="594360" y="1508760"/>
            <a:ext cx="7315200" cy="4389120"/>
          </a:xfrm>
          <a:prstGeom prst="rect">
            <a:avLst/>
          </a:prstGeom>
        </p:spPr>
      </p:pic>
      <p:sp>
        <p:nvSpPr>
          <p:cNvPr id="7" name="TextBox 6"/>
          <p:cNvSpPr txBox="1"/>
          <p:nvPr/>
        </p:nvSpPr>
        <p:spPr>
          <a:xfrm>
            <a:off x="8229600" y="1737360"/>
            <a:ext cx="3200400" cy="3291840"/>
          </a:xfrm>
          <a:prstGeom prst="rect">
            <a:avLst/>
          </a:prstGeom>
          <a:noFill/>
        </p:spPr>
        <p:txBody>
          <a:bodyPr wrap="square">
            <a:spAutoFit/>
          </a:bodyPr>
          <a:lstStyle/>
          <a:p>
            <a:pPr algn="l">
              <a:defRPr sz="1700" b="0">
                <a:solidFill>
                  <a:srgbClr val="292522"/>
                </a:solidFill>
                <a:latin typeface="Aptos"/>
              </a:defRPr>
            </a:pPr>
            <a:r>
              <a:t>Frontend</a:t>
            </a:r>
            <a:br/>
            <a:r>
              <a:t>React • TypeScript • Vite</a:t>
            </a:r>
            <a:br/>
            <a:br/>
            <a:r>
              <a:t>Backend</a:t>
            </a:r>
            <a:br/>
            <a:r>
              <a:t>Java 17 • Spring Boot • REST API</a:t>
            </a:r>
            <a:br/>
            <a:br/>
            <a:r>
              <a:t>Data &amp; security</a:t>
            </a:r>
            <a:br/>
            <a:r>
              <a:t>MySQL • JPA • Flyway • JWT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05 • WORKFLOW</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Core ordering workflow</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C8D5B0FB-E5E8-4127-018D-F4DEAA56E5AD}"/>
              </a:ext>
            </a:extLst>
          </p:cNvPr>
          <p:cNvPicPr>
            <a:picLocks noChangeAspect="1"/>
          </p:cNvPicPr>
          <p:nvPr/>
        </p:nvPicPr>
        <p:blipFill>
          <a:blip r:embed="rId3"/>
          <a:srcRect l="5113" t="15692" r="6186" b="8099"/>
          <a:stretch>
            <a:fillRect/>
          </a:stretch>
        </p:blipFill>
        <p:spPr>
          <a:xfrm>
            <a:off x="548639" y="1408176"/>
            <a:ext cx="9501945" cy="5357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06 • OPERATIONS</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Operations and administration</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creenshot_03_Admin_Dashboard.png"/>
          <p:cNvPicPr>
            <a:picLocks noChangeAspect="1"/>
          </p:cNvPicPr>
          <p:nvPr/>
        </p:nvPicPr>
        <p:blipFill>
          <a:blip r:embed="rId3"/>
          <a:stretch>
            <a:fillRect/>
          </a:stretch>
        </p:blipFill>
        <p:spPr>
          <a:xfrm>
            <a:off x="640080" y="1554480"/>
            <a:ext cx="5486400" cy="4297680"/>
          </a:xfrm>
          <a:prstGeom prst="rect">
            <a:avLst/>
          </a:prstGeom>
        </p:spPr>
      </p:pic>
      <p:pic>
        <p:nvPicPr>
          <p:cNvPr id="7" name="Picture 6" descr="Screenshot_04_Order_Management.png"/>
          <p:cNvPicPr>
            <a:picLocks noChangeAspect="1"/>
          </p:cNvPicPr>
          <p:nvPr/>
        </p:nvPicPr>
        <p:blipFill>
          <a:blip r:embed="rId4"/>
          <a:stretch>
            <a:fillRect/>
          </a:stretch>
        </p:blipFill>
        <p:spPr>
          <a:xfrm>
            <a:off x="6309360" y="1554480"/>
            <a:ext cx="5212080" cy="4297680"/>
          </a:xfrm>
          <a:prstGeom prst="rect">
            <a:avLst/>
          </a:prstGeom>
        </p:spPr>
      </p:pic>
      <p:sp>
        <p:nvSpPr>
          <p:cNvPr id="8" name="TextBox 7"/>
          <p:cNvSpPr txBox="1"/>
          <p:nvPr/>
        </p:nvSpPr>
        <p:spPr>
          <a:xfrm>
            <a:off x="731520" y="6080760"/>
            <a:ext cx="10607040" cy="365760"/>
          </a:xfrm>
          <a:prstGeom prst="rect">
            <a:avLst/>
          </a:prstGeom>
          <a:noFill/>
        </p:spPr>
        <p:txBody>
          <a:bodyPr wrap="square">
            <a:spAutoFit/>
          </a:bodyPr>
          <a:lstStyle/>
          <a:p>
            <a:pPr algn="l">
              <a:defRPr sz="1500" b="1">
                <a:solidFill>
                  <a:srgbClr val="292522"/>
                </a:solidFill>
                <a:latin typeface="Aptos"/>
              </a:defRPr>
            </a:pPr>
            <a:r>
              <a:t>Chain overview, order filters, status and operational shortcuts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2213-CC59-89B5-CE42-9DE1AFE2AEC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0744E3-FB98-7988-6F30-7605703922FD}"/>
              </a:ext>
            </a:extLst>
          </p:cNvPr>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290E095-0C52-203B-A316-7F7D7BB34723}"/>
              </a:ext>
            </a:extLst>
          </p:cNvPr>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07 • ENGINEERING</a:t>
            </a:r>
          </a:p>
        </p:txBody>
      </p:sp>
      <p:sp>
        <p:nvSpPr>
          <p:cNvPr id="4" name="TextBox 3">
            <a:extLst>
              <a:ext uri="{FF2B5EF4-FFF2-40B4-BE49-F238E27FC236}">
                <a16:creationId xmlns:a16="http://schemas.microsoft.com/office/drawing/2014/main" id="{F6DBC92B-2B73-BE33-6F6E-5B84BAFE0D7E}"/>
              </a:ext>
            </a:extLst>
          </p:cNvPr>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Data model and object-oriented design</a:t>
            </a:r>
          </a:p>
        </p:txBody>
      </p:sp>
      <p:sp>
        <p:nvSpPr>
          <p:cNvPr id="5" name="Rectangle 4">
            <a:extLst>
              <a:ext uri="{FF2B5EF4-FFF2-40B4-BE49-F238E27FC236}">
                <a16:creationId xmlns:a16="http://schemas.microsoft.com/office/drawing/2014/main" id="{22C6559C-21A0-80BA-1C60-2E943404DD88}"/>
              </a:ext>
            </a:extLst>
          </p:cNvPr>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F1F7536B-B8B7-4482-DE49-1BE43697A8E1}"/>
              </a:ext>
            </a:extLst>
          </p:cNvPr>
          <p:cNvPicPr>
            <a:picLocks noChangeAspect="1"/>
          </p:cNvPicPr>
          <p:nvPr/>
        </p:nvPicPr>
        <p:blipFill>
          <a:blip r:embed="rId3"/>
          <a:srcRect t="10697" b="9723"/>
          <a:stretch>
            <a:fillRect/>
          </a:stretch>
        </p:blipFill>
        <p:spPr>
          <a:xfrm>
            <a:off x="1171330" y="1408176"/>
            <a:ext cx="9910299" cy="5257760"/>
          </a:xfrm>
          <a:prstGeom prst="rect">
            <a:avLst/>
          </a:prstGeom>
        </p:spPr>
      </p:pic>
    </p:spTree>
    <p:extLst>
      <p:ext uri="{BB962C8B-B14F-4D97-AF65-F5344CB8AC3E}">
        <p14:creationId xmlns:p14="http://schemas.microsoft.com/office/powerpoint/2010/main" val="2157712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07 • ENGINEERING</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Data model and object-oriented design</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5806440"/>
            <a:ext cx="10607040" cy="594360"/>
          </a:xfrm>
          <a:prstGeom prst="rect">
            <a:avLst/>
          </a:prstGeom>
          <a:noFill/>
        </p:spPr>
        <p:txBody>
          <a:bodyPr wrap="square">
            <a:spAutoFit/>
          </a:bodyPr>
          <a:lstStyle/>
          <a:p>
            <a:pPr algn="l">
              <a:defRPr sz="1500" b="0">
                <a:solidFill>
                  <a:srgbClr val="292522"/>
                </a:solidFill>
                <a:latin typeface="Aptos"/>
              </a:defRPr>
            </a:pPr>
            <a:r>
              <a:t>Core entities support orders, menu, carts, payments and delivery. Layered classes separate HTTP, business rules and persistence.</a:t>
            </a:r>
          </a:p>
        </p:txBody>
      </p:sp>
      <p:pic>
        <p:nvPicPr>
          <p:cNvPr id="12" name="Picture 11">
            <a:extLst>
              <a:ext uri="{FF2B5EF4-FFF2-40B4-BE49-F238E27FC236}">
                <a16:creationId xmlns:a16="http://schemas.microsoft.com/office/drawing/2014/main" id="{91B3FCA2-395C-F98B-5AF8-8079192D7F35}"/>
              </a:ext>
            </a:extLst>
          </p:cNvPr>
          <p:cNvPicPr>
            <a:picLocks noChangeAspect="1"/>
          </p:cNvPicPr>
          <p:nvPr/>
        </p:nvPicPr>
        <p:blipFill>
          <a:blip r:embed="rId3"/>
          <a:srcRect l="593" t="12512" r="-593" b="9978"/>
          <a:stretch>
            <a:fillRect/>
          </a:stretch>
        </p:blipFill>
        <p:spPr>
          <a:xfrm>
            <a:off x="952347" y="1424979"/>
            <a:ext cx="10287000" cy="53156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28600"/>
          </a:xfrm>
          <a:prstGeom prst="rect">
            <a:avLst/>
          </a:prstGeom>
          <a:noFill/>
        </p:spPr>
        <p:txBody>
          <a:bodyPr wrap="square">
            <a:spAutoFit/>
          </a:bodyPr>
          <a:lstStyle/>
          <a:p>
            <a:pPr algn="l">
              <a:defRPr sz="1000" b="1">
                <a:solidFill>
                  <a:srgbClr val="EB5A1D"/>
                </a:solidFill>
                <a:latin typeface="Aptos"/>
              </a:defRPr>
            </a:pPr>
            <a:r>
              <a:t>09 • ROADMAP</a:t>
            </a:r>
          </a:p>
        </p:txBody>
      </p:sp>
      <p:sp>
        <p:nvSpPr>
          <p:cNvPr id="4" name="TextBox 3"/>
          <p:cNvSpPr txBox="1"/>
          <p:nvPr/>
        </p:nvSpPr>
        <p:spPr>
          <a:xfrm>
            <a:off x="548640" y="658368"/>
            <a:ext cx="10972800" cy="502920"/>
          </a:xfrm>
          <a:prstGeom prst="rect">
            <a:avLst/>
          </a:prstGeom>
          <a:noFill/>
        </p:spPr>
        <p:txBody>
          <a:bodyPr wrap="square">
            <a:spAutoFit/>
          </a:bodyPr>
          <a:lstStyle/>
          <a:p>
            <a:pPr algn="l">
              <a:defRPr sz="2700" b="1">
                <a:solidFill>
                  <a:srgbClr val="292522"/>
                </a:solidFill>
                <a:latin typeface="Aptos"/>
              </a:defRPr>
            </a:pPr>
            <a:r>
              <a:t>Conclusion and next steps</a:t>
            </a:r>
          </a:p>
        </p:txBody>
      </p:sp>
      <p:sp>
        <p:nvSpPr>
          <p:cNvPr id="5" name="Rectangle 4"/>
          <p:cNvSpPr/>
          <p:nvPr/>
        </p:nvSpPr>
        <p:spPr>
          <a:xfrm>
            <a:off x="548640" y="1261872"/>
            <a:ext cx="1051560" cy="45720"/>
          </a:xfrm>
          <a:prstGeom prst="rect">
            <a:avLst/>
          </a:prstGeom>
          <a:solidFill>
            <a:srgbClr val="EB5A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37360"/>
            <a:ext cx="10515600" cy="640080"/>
          </a:xfrm>
          <a:prstGeom prst="rect">
            <a:avLst/>
          </a:prstGeom>
          <a:noFill/>
        </p:spPr>
        <p:txBody>
          <a:bodyPr wrap="square">
            <a:spAutoFit/>
          </a:bodyPr>
          <a:lstStyle/>
          <a:p>
            <a:pPr algn="l">
              <a:defRPr sz="2300" b="1">
                <a:solidFill>
                  <a:srgbClr val="292522"/>
                </a:solidFill>
                <a:latin typeface="Aptos"/>
              </a:defRPr>
            </a:pPr>
            <a:r>
              <a:t>Bhuk establishes the core menu, ordering and admin workflow.</a:t>
            </a:r>
          </a:p>
        </p:txBody>
      </p:sp>
      <p:sp>
        <p:nvSpPr>
          <p:cNvPr id="7" name="TextBox 6"/>
          <p:cNvSpPr txBox="1"/>
          <p:nvPr/>
        </p:nvSpPr>
        <p:spPr>
          <a:xfrm>
            <a:off x="822960" y="2743200"/>
            <a:ext cx="3017520" cy="411480"/>
          </a:xfrm>
          <a:prstGeom prst="rect">
            <a:avLst/>
          </a:prstGeom>
          <a:noFill/>
        </p:spPr>
        <p:txBody>
          <a:bodyPr wrap="square">
            <a:spAutoFit/>
          </a:bodyPr>
          <a:lstStyle/>
          <a:p>
            <a:pPr algn="l">
              <a:defRPr sz="2000" b="1">
                <a:solidFill>
                  <a:srgbClr val="EB5A1D"/>
                </a:solidFill>
                <a:latin typeface="Aptos"/>
              </a:defRPr>
            </a:pPr>
            <a:r>
              <a:t>Priority next steps</a:t>
            </a:r>
          </a:p>
        </p:txBody>
      </p:sp>
      <p:sp>
        <p:nvSpPr>
          <p:cNvPr id="8" name="TextBox 7"/>
          <p:cNvSpPr txBox="1"/>
          <p:nvPr/>
        </p:nvSpPr>
        <p:spPr>
          <a:xfrm>
            <a:off x="914400" y="3337560"/>
            <a:ext cx="9601200" cy="1569660"/>
          </a:xfrm>
          <a:prstGeom prst="rect">
            <a:avLst/>
          </a:prstGeom>
          <a:noFill/>
        </p:spPr>
        <p:txBody>
          <a:bodyPr wrap="square">
            <a:spAutoFit/>
          </a:bodyPr>
          <a:lstStyle/>
          <a:p>
            <a:pPr algn="l">
              <a:defRPr sz="1800" b="0">
                <a:solidFill>
                  <a:srgbClr val="292522"/>
                </a:solidFill>
                <a:latin typeface="Aptos"/>
              </a:defRPr>
            </a:pPr>
            <a:r>
              <a:rPr sz="2400" dirty="0"/>
              <a:t>1. Complete payment gateway integration and reconciliation</a:t>
            </a:r>
            <a:br>
              <a:rPr sz="2400" dirty="0"/>
            </a:br>
            <a:r>
              <a:rPr sz="2400" dirty="0"/>
              <a:t>2. Add end-to-end tests for customer-to-delivery lifecycle</a:t>
            </a:r>
            <a:br>
              <a:rPr sz="2400" dirty="0"/>
            </a:br>
            <a:r>
              <a:rPr sz="2400" dirty="0"/>
              <a:t>3. Reconcile schema counts and attach final test logs</a:t>
            </a:r>
            <a:br>
              <a:rPr sz="2400" dirty="0"/>
            </a:br>
            <a:r>
              <a:rPr sz="2400" dirty="0"/>
              <a:t>4. Harden deployment, monitoring and accessibility</a:t>
            </a:r>
          </a:p>
        </p:txBody>
      </p:sp>
      <p:sp>
        <p:nvSpPr>
          <p:cNvPr id="9" name="TextBox 8"/>
          <p:cNvSpPr txBox="1"/>
          <p:nvPr/>
        </p:nvSpPr>
        <p:spPr>
          <a:xfrm>
            <a:off x="822960" y="5943600"/>
            <a:ext cx="9144000" cy="365760"/>
          </a:xfrm>
          <a:prstGeom prst="rect">
            <a:avLst/>
          </a:prstGeom>
          <a:noFill/>
        </p:spPr>
        <p:txBody>
          <a:bodyPr wrap="square">
            <a:spAutoFit/>
          </a:bodyPr>
          <a:lstStyle/>
          <a:p>
            <a:pPr algn="l">
              <a:defRPr sz="1500" b="1">
                <a:solidFill>
                  <a:srgbClr val="292522"/>
                </a:solidFill>
                <a:latin typeface="Aptos"/>
              </a:defRPr>
            </a:pPr>
            <a:r>
              <a:t>Repository: github.com/atabhishekx/bhuk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1836</Words>
  <Application>Microsoft Office PowerPoint</Application>
  <PresentationFormat>Widescreen</PresentationFormat>
  <Paragraphs>121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52_AIML_C_Abhishek Vishwakarma</dc:creator>
  <cp:keywords/>
  <dc:description>generated using python-pptx</dc:description>
  <cp:lastModifiedBy>52_AIML_C_Abhishek Vishwakarma</cp:lastModifiedBy>
  <cp:revision>3</cp:revision>
  <dcterms:created xsi:type="dcterms:W3CDTF">2013-01-27T09:14:16Z</dcterms:created>
  <dcterms:modified xsi:type="dcterms:W3CDTF">2026-10-25T22:06:07Z</dcterms:modified>
  <cp:category/>
</cp:coreProperties>
</file>